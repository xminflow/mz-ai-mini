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13232"/>
            <a:ext cx="128016" cy="128016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3" name="Shape 1"/>
          <p:cNvSpPr/>
          <p:nvPr/>
        </p:nvSpPr>
        <p:spPr>
          <a:xfrm>
            <a:off x="713232" y="713232"/>
            <a:ext cx="128016" cy="128016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4" name="Shape 2"/>
          <p:cNvSpPr/>
          <p:nvPr/>
        </p:nvSpPr>
        <p:spPr>
          <a:xfrm>
            <a:off x="923544" y="713232"/>
            <a:ext cx="128016" cy="128016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5" name="Text 3"/>
          <p:cNvSpPr/>
          <p:nvPr/>
        </p:nvSpPr>
        <p:spPr>
          <a:xfrm>
            <a:off x="502920" y="1691640"/>
            <a:ext cx="81381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软件定制服务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</a:t>
            </a:r>
            <a:r>
              <a:rPr lang="zh-CN" alt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真正的</a:t>
            </a:r>
            <a:r>
              <a:rPr 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大型企业的软件交付标准</a:t>
            </a:r>
            <a:r>
              <a:rPr lang="zh-CN" alt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</a:t>
            </a:r>
            <a:r>
              <a:rPr 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做到</a:t>
            </a:r>
            <a:r>
              <a:rPr lang="en-US" sz="17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中小企业的定制项目上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8" name="Text 6"/>
          <p:cNvSpPr/>
          <p:nvPr/>
        </p:nvSpPr>
        <p:spPr>
          <a:xfrm>
            <a:off x="502920" y="358444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1V1 高端服务　·　全天候响应　·　全透明流程　·　100% 主动推进　·　高质量维保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核心主张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8138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企业级的软件交付标准</a:t>
            </a:r>
            <a:endParaRPr lang="en-US" sz="33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33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不是中小企业不需要，</a:t>
            </a:r>
            <a:r>
              <a:rPr lang="en-US" sz="33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是过去</a:t>
            </a:r>
            <a:r>
              <a:rPr lang="zh-CN" altLang="en-US" sz="33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价格太贵</a:t>
            </a:r>
            <a:endParaRPr lang="zh-CN" altLang="en-US" sz="3300" b="1" dirty="0">
              <a:solidFill>
                <a:srgbClr val="0F5FD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310128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7" name="Text 5"/>
          <p:cNvSpPr/>
          <p:nvPr/>
        </p:nvSpPr>
        <p:spPr>
          <a:xfrm>
            <a:off x="502920" y="347472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今天回答三个问题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16736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6" name="Text 4"/>
          <p:cNvSpPr/>
          <p:nvPr/>
        </p:nvSpPr>
        <p:spPr>
          <a:xfrm>
            <a:off x="502920" y="1444752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26464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钱亏在哪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1426464"/>
            <a:ext cx="5623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定制软件的真实成本有三层，报价单只覆盖最上面一层。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十五类常见问题，各自把钱亏在哪一层。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0" name="Text 8"/>
          <p:cNvSpPr/>
          <p:nvPr/>
        </p:nvSpPr>
        <p:spPr>
          <a:xfrm>
            <a:off x="502920" y="2432304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41401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我们凭什么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2414016"/>
            <a:ext cx="5623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大型企业的项目里为什么不出这些问题——因为有一套交付标准。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我们把它带出来，靠三根支柱撑住。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4" name="Text 12"/>
          <p:cNvSpPr/>
          <p:nvPr/>
        </p:nvSpPr>
        <p:spPr>
          <a:xfrm>
            <a:off x="502920" y="3419856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3401568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怎么验证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3401568"/>
            <a:ext cx="56235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每一条承诺都对应一个您在签约前就能核对的动作，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而不是一句话。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79392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8" name="Text 16"/>
          <p:cNvSpPr/>
          <p:nvPr/>
        </p:nvSpPr>
        <p:spPr>
          <a:xfrm>
            <a:off x="502920" y="4443984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00584" cy="100584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3" name="Shape 1"/>
          <p:cNvSpPr/>
          <p:nvPr/>
        </p:nvSpPr>
        <p:spPr>
          <a:xfrm>
            <a:off x="667512" y="1371600"/>
            <a:ext cx="100584" cy="100584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4" name="Shape 2"/>
          <p:cNvSpPr/>
          <p:nvPr/>
        </p:nvSpPr>
        <p:spPr>
          <a:xfrm>
            <a:off x="832104" y="1371600"/>
            <a:ext cx="100584" cy="100584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5" name="Text 3"/>
          <p:cNvSpPr/>
          <p:nvPr/>
        </p:nvSpPr>
        <p:spPr>
          <a:xfrm>
            <a:off x="502920" y="178308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中小企业的定制软件，</a:t>
            </a:r>
            <a:endParaRPr lang="en-US" sz="3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钱通常亏在哪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8" name="Text 6"/>
          <p:cNvSpPr/>
          <p:nvPr/>
        </p:nvSpPr>
        <p:spPr>
          <a:xfrm>
            <a:off x="502920" y="358444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三层成本　　·　　十五类失效模式　　·　　三个结构性原因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一套系统的钱，分三层花出去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499360" cy="45720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6" name="Text 4"/>
          <p:cNvSpPr/>
          <p:nvPr/>
        </p:nvSpPr>
        <p:spPr>
          <a:xfrm>
            <a:off x="502920" y="1609344"/>
            <a:ext cx="2499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建设成本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249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需求、设计、开发、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测试、部署、培训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249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看得见，就是报价单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22320" y="1417320"/>
            <a:ext cx="2499360" cy="45720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0" name="Text 8"/>
          <p:cNvSpPr/>
          <p:nvPr/>
        </p:nvSpPr>
        <p:spPr>
          <a:xfrm>
            <a:off x="3322320" y="1609344"/>
            <a:ext cx="2499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持有成本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22320" y="2029968"/>
            <a:ext cx="249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运维、故障处置、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性能治理、功能演进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22320" y="2761488"/>
            <a:ext cx="249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基本看不见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最多一笔维保费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41720" y="1417320"/>
            <a:ext cx="2499360" cy="45720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14" name="Text 12"/>
          <p:cNvSpPr/>
          <p:nvPr/>
        </p:nvSpPr>
        <p:spPr>
          <a:xfrm>
            <a:off x="6141720" y="1609344"/>
            <a:ext cx="2499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退出成本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41720" y="2029968"/>
            <a:ext cx="2499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知识重建、代码交接、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数据迁移、新旧并行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41720" y="2761488"/>
            <a:ext cx="249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几乎从不进入比较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39312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8" name="Text 16"/>
          <p:cNvSpPr/>
          <p:nvPr/>
        </p:nvSpPr>
        <p:spPr>
          <a:xfrm>
            <a:off x="502920" y="3803904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FAILURE MODES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十五类失效模式，按</a:t>
            </a:r>
            <a:r>
              <a:rPr lang="zh-CN" alt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399032"/>
            <a:ext cx="1225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选型与签约前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517904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8" name="Shape 6"/>
          <p:cNvSpPr/>
          <p:nvPr/>
        </p:nvSpPr>
        <p:spPr>
          <a:xfrm>
            <a:off x="502920" y="1929384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9" name="Text 7"/>
          <p:cNvSpPr/>
          <p:nvPr/>
        </p:nvSpPr>
        <p:spPr>
          <a:xfrm>
            <a:off x="658368" y="1856232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需求说不清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11" name="Text 9"/>
          <p:cNvSpPr/>
          <p:nvPr/>
        </p:nvSpPr>
        <p:spPr>
          <a:xfrm>
            <a:off x="658368" y="2240280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报价黑箱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13" name="Text 11"/>
          <p:cNvSpPr/>
          <p:nvPr/>
        </p:nvSpPr>
        <p:spPr>
          <a:xfrm>
            <a:off x="658368" y="2624328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概念包装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81528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15" name="Text 13"/>
          <p:cNvSpPr/>
          <p:nvPr/>
        </p:nvSpPr>
        <p:spPr>
          <a:xfrm>
            <a:off x="658368" y="3008376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转包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465576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17" name="Text 15"/>
          <p:cNvSpPr/>
          <p:nvPr/>
        </p:nvSpPr>
        <p:spPr>
          <a:xfrm>
            <a:off x="658368" y="3392424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跑路风险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57984" y="137160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50592" y="1399032"/>
            <a:ext cx="1225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建设过程中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57984" y="1737360"/>
            <a:ext cx="1517904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1" name="Shape 19"/>
          <p:cNvSpPr/>
          <p:nvPr/>
        </p:nvSpPr>
        <p:spPr>
          <a:xfrm>
            <a:off x="2157984" y="1929384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22" name="Text 20"/>
          <p:cNvSpPr/>
          <p:nvPr/>
        </p:nvSpPr>
        <p:spPr>
          <a:xfrm>
            <a:off x="2313432" y="1856232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黑盒开发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57984" y="2313432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24" name="Text 22"/>
          <p:cNvSpPr/>
          <p:nvPr/>
        </p:nvSpPr>
        <p:spPr>
          <a:xfrm>
            <a:off x="2313432" y="2240280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工期失控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13048" y="137160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05656" y="1399032"/>
            <a:ext cx="1225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交付与验收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813048" y="1737360"/>
            <a:ext cx="1517904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8" name="Shape 26"/>
          <p:cNvSpPr/>
          <p:nvPr/>
        </p:nvSpPr>
        <p:spPr>
          <a:xfrm>
            <a:off x="3813048" y="1929384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29" name="Text 27"/>
          <p:cNvSpPr/>
          <p:nvPr/>
        </p:nvSpPr>
        <p:spPr>
          <a:xfrm>
            <a:off x="3968496" y="1856232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验收没依据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13048" y="2313432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31" name="Text 29"/>
          <p:cNvSpPr/>
          <p:nvPr/>
        </p:nvSpPr>
        <p:spPr>
          <a:xfrm>
            <a:off x="3968496" y="2240280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套模板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813048" y="2697480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33" name="Text 31"/>
          <p:cNvSpPr/>
          <p:nvPr/>
        </p:nvSpPr>
        <p:spPr>
          <a:xfrm>
            <a:off x="3968496" y="2624328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底层没标准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813048" y="3081528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35" name="Text 33"/>
          <p:cNvSpPr/>
          <p:nvPr/>
        </p:nvSpPr>
        <p:spPr>
          <a:xfrm>
            <a:off x="3968496" y="3008376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盲盒交付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68112" y="137160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760720" y="1399032"/>
            <a:ext cx="1225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上线之后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68112" y="1737360"/>
            <a:ext cx="1517904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39" name="Shape 37"/>
          <p:cNvSpPr/>
          <p:nvPr/>
        </p:nvSpPr>
        <p:spPr>
          <a:xfrm>
            <a:off x="5468112" y="1929384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40" name="Text 38"/>
          <p:cNvSpPr/>
          <p:nvPr/>
        </p:nvSpPr>
        <p:spPr>
          <a:xfrm>
            <a:off x="5623560" y="1856232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交付即失联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68112" y="2313432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42" name="Text 40"/>
          <p:cNvSpPr/>
          <p:nvPr/>
        </p:nvSpPr>
        <p:spPr>
          <a:xfrm>
            <a:off x="5623560" y="2240280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上线后不敢动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68112" y="2697480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44" name="Text 42"/>
          <p:cNvSpPr/>
          <p:nvPr/>
        </p:nvSpPr>
        <p:spPr>
          <a:xfrm>
            <a:off x="5623560" y="2624328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人走了没人懂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123176" y="137160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415784" y="1399032"/>
            <a:ext cx="12252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资产与退出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123176" y="1737360"/>
            <a:ext cx="1517904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48" name="Shape 46"/>
          <p:cNvSpPr/>
          <p:nvPr/>
        </p:nvSpPr>
        <p:spPr>
          <a:xfrm>
            <a:off x="7123176" y="1929384"/>
            <a:ext cx="68580" cy="68580"/>
          </a:xfrm>
          <a:prstGeom prst="ellipse">
            <a:avLst/>
          </a:prstGeom>
          <a:solidFill>
            <a:srgbClr val="64645B"/>
          </a:solidFill>
        </p:spPr>
      </p:sp>
      <p:sp>
        <p:nvSpPr>
          <p:cNvPr id="49" name="Text 47"/>
          <p:cNvSpPr/>
          <p:nvPr/>
        </p:nvSpPr>
        <p:spPr>
          <a:xfrm>
            <a:off x="7278624" y="1856232"/>
            <a:ext cx="1362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源码拿不回来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02920" y="3968496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51" name="Text 49"/>
          <p:cNvSpPr/>
          <p:nvPr/>
        </p:nvSpPr>
        <p:spPr>
          <a:xfrm>
            <a:off x="502920" y="4133088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其中六类影响最大：需求说不清 · 报价黑箱 · 工期失控 · AI 盲盒交付 · 交付即失联 · 源码拿不回来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WHY NOT THERE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同样的问题，大型企业的项目里很少发生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不是运气好，是从立项那天起就被一套标准约束着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32120" y="157276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挡住了哪类问题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138160" cy="7315"/>
          </a:xfrm>
          <a:prstGeom prst="rect">
            <a:avLst/>
          </a:prstGeom>
          <a:solidFill>
            <a:srgbClr val="0E0E0E"/>
          </a:solidFill>
        </p:spPr>
      </p:sp>
      <p:sp>
        <p:nvSpPr>
          <p:cNvPr id="8" name="Text 6"/>
          <p:cNvSpPr/>
          <p:nvPr/>
        </p:nvSpPr>
        <p:spPr>
          <a:xfrm>
            <a:off x="502920" y="187452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架构师必须介入需求与方案评审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8745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需求说不清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12" name="Text 10"/>
          <p:cNvSpPr/>
          <p:nvPr/>
        </p:nvSpPr>
        <p:spPr>
          <a:xfrm>
            <a:off x="502920" y="225856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25856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工作量按模块拆解、可核对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22585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报价黑箱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16" name="Text 14"/>
          <p:cNvSpPr/>
          <p:nvPr/>
        </p:nvSpPr>
        <p:spPr>
          <a:xfrm>
            <a:off x="502920" y="26426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64261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里程碑评审、周报、进度可追溯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6426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黑盒开发 · 工期失控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935224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20" name="Text 18"/>
          <p:cNvSpPr/>
          <p:nvPr/>
        </p:nvSpPr>
        <p:spPr>
          <a:xfrm>
            <a:off x="502920" y="302666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02666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强制代码审查、质量门禁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0266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盲盒 · 没人懂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319272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24" name="Text 22"/>
          <p:cNvSpPr/>
          <p:nvPr/>
        </p:nvSpPr>
        <p:spPr>
          <a:xfrm>
            <a:off x="502920" y="34107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41071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安全、性能、容灾、回滚方案缺一不可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34107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底层没标准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28" name="Text 26"/>
          <p:cNvSpPr/>
          <p:nvPr/>
        </p:nvSpPr>
        <p:spPr>
          <a:xfrm>
            <a:off x="502920" y="37947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3794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监控告警、值班制度、故障复盘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37947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交付即失联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4087368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32" name="Text 30"/>
          <p:cNvSpPr/>
          <p:nvPr/>
        </p:nvSpPr>
        <p:spPr>
          <a:xfrm>
            <a:off x="502920" y="41788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17880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代码、数据、权限均在甲方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417880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源码拿不回来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471416"/>
            <a:ext cx="8138160" cy="7315"/>
          </a:xfrm>
          <a:prstGeom prst="rect">
            <a:avLst/>
          </a:prstGeom>
          <a:solidFill>
            <a:srgbClr val="E8E8E4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为什么中小项目躲不掉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36576" cy="841248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6" name="Text 4"/>
          <p:cNvSpPr/>
          <p:nvPr/>
        </p:nvSpPr>
        <p:spPr>
          <a:xfrm>
            <a:off x="685800" y="13716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335024"/>
            <a:ext cx="7424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您没法验货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6152" y="1700784"/>
            <a:ext cx="7424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验收时能查功能好不好用，查不了代码好不好维护、架构撑不撑得住。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结果是价格成了唯一的比较维度。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6576" cy="841248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0" name="Text 8"/>
          <p:cNvSpPr/>
          <p:nvPr/>
        </p:nvSpPr>
        <p:spPr>
          <a:xfrm>
            <a:off x="685800" y="24505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16152" y="2414016"/>
            <a:ext cx="7424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合同签的时候，东西还不存在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6152" y="2779776"/>
            <a:ext cx="7424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细节要在做的过程中才浮现，而合同必须在做之前签。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这不是谁的疏忽，是这类交易的固有特点。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547872"/>
            <a:ext cx="36576" cy="841248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14" name="Text 12"/>
          <p:cNvSpPr/>
          <p:nvPr/>
        </p:nvSpPr>
        <p:spPr>
          <a:xfrm>
            <a:off x="685800" y="352958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16152" y="3493008"/>
            <a:ext cx="74249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他的责任在收款时结束，您的责任在上线时开始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3858768"/>
            <a:ext cx="7424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两条时间轴几乎不重叠。建设期为省成本做的任何取舍，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代价都不由他自己承担。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8" name="Text 16"/>
          <p:cNvSpPr/>
          <p:nvPr/>
        </p:nvSpPr>
        <p:spPr>
          <a:xfrm>
            <a:off x="502920" y="464515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前两条只能缓解，第三条可以通过合同设计基本消除。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TURNING POINT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中小项目不是不需要这套标准，是过去养不起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91056"/>
            <a:ext cx="146304" cy="20117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6" name="Text 4"/>
          <p:cNvSpPr/>
          <p:nvPr/>
        </p:nvSpPr>
        <p:spPr>
          <a:xfrm>
            <a:off x="813816" y="1481328"/>
            <a:ext cx="78272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 10 年经验的架构师全程参与一个几十万的项目，人力成本算不过来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066544"/>
            <a:ext cx="146304" cy="20117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8" name="Text 6"/>
          <p:cNvSpPr/>
          <p:nvPr/>
        </p:nvSpPr>
        <p:spPr>
          <a:xfrm>
            <a:off x="813816" y="1956816"/>
            <a:ext cx="78272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建一套监控告警系统、配值班人员，对单个中小项目是纯亏损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146304" cy="20117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0" name="Text 8"/>
          <p:cNvSpPr/>
          <p:nvPr/>
        </p:nvSpPr>
        <p:spPr>
          <a:xfrm>
            <a:off x="813816" y="2432304"/>
            <a:ext cx="78272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强制代码审查、写完整文档、做压力测试，工期和报价都要上一个台阶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2" name="Text 10"/>
          <p:cNvSpPr/>
          <p:nvPr/>
        </p:nvSpPr>
        <p:spPr>
          <a:xfrm>
            <a:off x="502920" y="32004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所以行业形成了默认做法：中小项目就用中小项目的干法。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架构师不参与、监控不做、文档不写、审查不做——不是不知道该做，是做了就没利润。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913632"/>
            <a:ext cx="36576" cy="457200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14" name="Text 12"/>
          <p:cNvSpPr/>
          <p:nvPr/>
        </p:nvSpPr>
        <p:spPr>
          <a:xfrm>
            <a:off x="685800" y="3968496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5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我们要</a:t>
            </a:r>
            <a:r>
              <a:rPr lang="en-US" sz="135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回答的就是：有没有办法让这套标准在中小项目上算得过账。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100584" cy="100584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3" name="Shape 1"/>
          <p:cNvSpPr/>
          <p:nvPr/>
        </p:nvSpPr>
        <p:spPr>
          <a:xfrm>
            <a:off x="667512" y="1371600"/>
            <a:ext cx="100584" cy="100584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4" name="Shape 2"/>
          <p:cNvSpPr/>
          <p:nvPr/>
        </p:nvSpPr>
        <p:spPr>
          <a:xfrm>
            <a:off x="832104" y="1371600"/>
            <a:ext cx="100584" cy="100584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5" name="Text 3"/>
          <p:cNvSpPr/>
          <p:nvPr/>
        </p:nvSpPr>
        <p:spPr>
          <a:xfrm>
            <a:off x="502920" y="1783080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我们凭什么：</a:t>
            </a:r>
            <a:endParaRPr lang="en-US" sz="3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企业级交付标准的三根支柱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8" name="Text 6"/>
          <p:cNvSpPr/>
          <p:nvPr/>
        </p:nvSpPr>
        <p:spPr>
          <a:xfrm>
            <a:off x="502920" y="3584448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 · 标准从哪来　　·　　建 · AI 产研平台　　·　　维 · AI 维保平台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THREE PILLARS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把标准带出来，并让它算得过账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6" name="Text 4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975104"/>
            <a:ext cx="2499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标准从哪来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24993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9" name="Text 7"/>
          <p:cNvSpPr/>
          <p:nvPr/>
        </p:nvSpPr>
        <p:spPr>
          <a:xfrm>
            <a:off x="502920" y="2505456"/>
            <a:ext cx="2499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核心成员做了多年大型企业信息化项目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与高科技企业产品研发，交付标准是从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那里带出来的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249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决定标准的高度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22320" y="1371600"/>
            <a:ext cx="457200" cy="457200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2" name="Text 10"/>
          <p:cNvSpPr/>
          <p:nvPr/>
        </p:nvSpPr>
        <p:spPr>
          <a:xfrm>
            <a:off x="332232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2320" y="1975104"/>
            <a:ext cx="2499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 AI 产研平台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22320" y="2359152"/>
            <a:ext cx="24993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5" name="Text 13"/>
          <p:cNvSpPr/>
          <p:nvPr/>
        </p:nvSpPr>
        <p:spPr>
          <a:xfrm>
            <a:off x="3322320" y="2505456"/>
            <a:ext cx="2499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架构师、研发工程师与 AI 三方互检，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高质量门禁，规避 AI 盲盒式交付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2320" y="3474720"/>
            <a:ext cx="249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压低建设成本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41720" y="1371600"/>
            <a:ext cx="457200" cy="457200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18" name="Text 16"/>
          <p:cNvSpPr/>
          <p:nvPr/>
        </p:nvSpPr>
        <p:spPr>
          <a:xfrm>
            <a:off x="614172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41720" y="1975104"/>
            <a:ext cx="2499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自研 AI 维保平台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41720" y="2359152"/>
            <a:ext cx="24993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1" name="Text 19"/>
          <p:cNvSpPr/>
          <p:nvPr/>
        </p:nvSpPr>
        <p:spPr>
          <a:xfrm>
            <a:off x="6141720" y="2505456"/>
            <a:ext cx="2499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主动发现问题并处理，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而不是等客户提交工单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1720" y="3474720"/>
            <a:ext cx="249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压低持有成本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968496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4" name="Text 22"/>
          <p:cNvSpPr/>
          <p:nvPr/>
        </p:nvSpPr>
        <p:spPr>
          <a:xfrm>
            <a:off x="502920" y="4133088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产研平台让这套标准买得起，AI 维保平台让它在交付之后继续成立。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PILLAR 01  PEOPLE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标准从哪里来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核心成员均具备 10 年以上软件研发经历，包含两类经验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00784"/>
            <a:ext cx="36576" cy="786384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7" name="Text 5"/>
          <p:cNvSpPr/>
          <p:nvPr/>
        </p:nvSpPr>
        <p:spPr>
          <a:xfrm>
            <a:off x="685800" y="166420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大型企业信息化项目建设经验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3749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中国电信集团　·　中国邮政储蓄银行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中国太平洋保险　·　中国金融期货交易所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700784"/>
            <a:ext cx="36576" cy="786384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0" name="Text 8"/>
          <p:cNvSpPr/>
          <p:nvPr/>
        </p:nvSpPr>
        <p:spPr>
          <a:xfrm>
            <a:off x="4892040" y="166420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高科技与独角兽企业产品研发经验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993392"/>
            <a:ext cx="3749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东方国信　·　惠普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中国电子信息产业集团　·　数澜科技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688336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以上为团队成员的个人从业经历，非本公司的客户案例。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4" name="Shape 12"/>
          <p:cNvSpPr/>
          <p:nvPr/>
        </p:nvSpPr>
        <p:spPr>
          <a:xfrm>
            <a:off x="502920" y="3337560"/>
            <a:ext cx="91440" cy="91440"/>
          </a:xfrm>
          <a:prstGeom prst="ellipse">
            <a:avLst/>
          </a:prstGeom>
          <a:solidFill>
            <a:srgbClr val="0F5FD8"/>
          </a:solidFill>
        </p:spPr>
      </p:sp>
      <p:sp>
        <p:nvSpPr>
          <p:cNvPr id="15" name="Text 13"/>
          <p:cNvSpPr/>
          <p:nvPr/>
        </p:nvSpPr>
        <p:spPr>
          <a:xfrm>
            <a:off x="722376" y="325526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架构师本人对接需求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236976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不经由销售、客服或初级开发转达。需求翻译的质量，取决于能否听出您没说出口的业务约束。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50792"/>
            <a:ext cx="91440" cy="91440"/>
          </a:xfrm>
          <a:prstGeom prst="ellipse">
            <a:avLst/>
          </a:prstGeom>
          <a:solidFill>
            <a:srgbClr val="0F5FD8"/>
          </a:solidFill>
        </p:spPr>
      </p:sp>
      <p:sp>
        <p:nvSpPr>
          <p:cNvPr id="18" name="Text 16"/>
          <p:cNvSpPr/>
          <p:nvPr/>
        </p:nvSpPr>
        <p:spPr>
          <a:xfrm>
            <a:off x="722376" y="396849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一个项目，一位架构师，全程到底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950208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不中途抽调、不并行拆分。因此我们能同时接的项目数是有硬上限的——排不开就说排不开。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PILLAR 02  BUILD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写得快，不等于软件做得好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138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行业现状：AI 大幅降低了写代码的门槛，价格确实在降。但 AI 生成的代码通常能通过功能演示，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结构是否合理、半年后还能不能改，往往没有人真正核对过——您拿到的是一个盲盒。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36576" cy="310896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7" name="Text 5"/>
          <p:cNvSpPr/>
          <p:nvPr/>
        </p:nvSpPr>
        <p:spPr>
          <a:xfrm>
            <a:off x="685800" y="1810512"/>
            <a:ext cx="7955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它比过去的低质交付更危险——因为表面质量更高，验收时看起来完全正常。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9152"/>
            <a:ext cx="8138160" cy="7315"/>
          </a:xfrm>
          <a:prstGeom prst="rect">
            <a:avLst/>
          </a:prstGeom>
          <a:solidFill>
            <a:srgbClr val="0E0E0E"/>
          </a:solidFill>
        </p:spPr>
      </p:sp>
      <p:sp>
        <p:nvSpPr>
          <p:cNvPr id="9" name="Text 7"/>
          <p:cNvSpPr/>
          <p:nvPr/>
        </p:nvSpPr>
        <p:spPr>
          <a:xfrm>
            <a:off x="502920" y="2523744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我们的做法：AI 不是执行者，而是三方互检中的一方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2499360" cy="45720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11" name="Text 9"/>
          <p:cNvSpPr/>
          <p:nvPr/>
        </p:nvSpPr>
        <p:spPr>
          <a:xfrm>
            <a:off x="502920" y="3127248"/>
            <a:ext cx="249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56432"/>
            <a:ext cx="2499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架构设计与规格定义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方向由人定，不由 AI 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2320" y="2999232"/>
            <a:ext cx="2499360" cy="45720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14" name="Text 12"/>
          <p:cNvSpPr/>
          <p:nvPr/>
        </p:nvSpPr>
        <p:spPr>
          <a:xfrm>
            <a:off x="3322320" y="3127248"/>
            <a:ext cx="249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22320" y="3456432"/>
            <a:ext cx="2499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承担部分实现与初审，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并反过来审查人写的代码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1720" y="2999232"/>
            <a:ext cx="2499360" cy="45720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7" name="Text 15"/>
          <p:cNvSpPr/>
          <p:nvPr/>
        </p:nvSpPr>
        <p:spPr>
          <a:xfrm>
            <a:off x="6141720" y="3127248"/>
            <a:ext cx="249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研发工程师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1720" y="3456432"/>
            <a:ext cx="2499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复核 AI 的产出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责任始终在人身上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0" name="Text 18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三方的产出互为审核对象，之上还有不因赶工期而放宽的质量门禁。我们并不依赖 AI 生成代码。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PILLAR 03  MAINTAIN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交付之后，谁在看着这套系统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行业通行做法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384048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7" name="Shape 5"/>
          <p:cNvSpPr/>
          <p:nvPr/>
        </p:nvSpPr>
        <p:spPr>
          <a:xfrm>
            <a:off x="559613" y="1810512"/>
            <a:ext cx="14630" cy="283464"/>
          </a:xfrm>
          <a:prstGeom prst="rect">
            <a:avLst/>
          </a:prstGeom>
          <a:solidFill>
            <a:srgbClr val="F0D2D5"/>
          </a:solidFill>
        </p:spPr>
      </p:sp>
      <p:sp>
        <p:nvSpPr>
          <p:cNvPr id="8" name="Shape 6"/>
          <p:cNvSpPr/>
          <p:nvPr/>
        </p:nvSpPr>
        <p:spPr>
          <a:xfrm>
            <a:off x="525780" y="1728216"/>
            <a:ext cx="82296" cy="82296"/>
          </a:xfrm>
          <a:prstGeom prst="ellipse">
            <a:avLst/>
          </a:prstGeom>
          <a:solidFill>
            <a:srgbClr val="C8202C"/>
          </a:solidFill>
        </p:spPr>
      </p:sp>
      <p:sp>
        <p:nvSpPr>
          <p:cNvPr id="9" name="Text 7"/>
          <p:cNvSpPr/>
          <p:nvPr/>
        </p:nvSpPr>
        <p:spPr>
          <a:xfrm>
            <a:off x="758952" y="165506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您发现问题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9613" y="2176272"/>
            <a:ext cx="14630" cy="283464"/>
          </a:xfrm>
          <a:prstGeom prst="rect">
            <a:avLst/>
          </a:prstGeom>
          <a:solidFill>
            <a:srgbClr val="F0D2D5"/>
          </a:solidFill>
        </p:spPr>
      </p:sp>
      <p:sp>
        <p:nvSpPr>
          <p:cNvPr id="11" name="Shape 9"/>
          <p:cNvSpPr/>
          <p:nvPr/>
        </p:nvSpPr>
        <p:spPr>
          <a:xfrm>
            <a:off x="525780" y="2093976"/>
            <a:ext cx="82296" cy="82296"/>
          </a:xfrm>
          <a:prstGeom prst="ellipse">
            <a:avLst/>
          </a:prstGeom>
          <a:solidFill>
            <a:srgbClr val="C8202C"/>
          </a:solidFill>
        </p:spPr>
      </p:sp>
      <p:sp>
        <p:nvSpPr>
          <p:cNvPr id="12" name="Text 10"/>
          <p:cNvSpPr/>
          <p:nvPr/>
        </p:nvSpPr>
        <p:spPr>
          <a:xfrm>
            <a:off x="758952" y="202082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提交工单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9613" y="2542032"/>
            <a:ext cx="14630" cy="283464"/>
          </a:xfrm>
          <a:prstGeom prst="rect">
            <a:avLst/>
          </a:prstGeom>
          <a:solidFill>
            <a:srgbClr val="F0D2D5"/>
          </a:solidFill>
        </p:spPr>
      </p:sp>
      <p:sp>
        <p:nvSpPr>
          <p:cNvPr id="14" name="Shape 12"/>
          <p:cNvSpPr/>
          <p:nvPr/>
        </p:nvSpPr>
        <p:spPr>
          <a:xfrm>
            <a:off x="525780" y="2459736"/>
            <a:ext cx="82296" cy="82296"/>
          </a:xfrm>
          <a:prstGeom prst="ellipse">
            <a:avLst/>
          </a:prstGeom>
          <a:solidFill>
            <a:srgbClr val="C8202C"/>
          </a:solidFill>
        </p:spPr>
      </p:sp>
      <p:sp>
        <p:nvSpPr>
          <p:cNvPr id="15" name="Text 13"/>
          <p:cNvSpPr/>
          <p:nvPr/>
        </p:nvSpPr>
        <p:spPr>
          <a:xfrm>
            <a:off x="758952" y="238658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客服转达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9613" y="2907792"/>
            <a:ext cx="14630" cy="283464"/>
          </a:xfrm>
          <a:prstGeom prst="rect">
            <a:avLst/>
          </a:prstGeom>
          <a:solidFill>
            <a:srgbClr val="F0D2D5"/>
          </a:solidFill>
        </p:spPr>
      </p:sp>
      <p:sp>
        <p:nvSpPr>
          <p:cNvPr id="17" name="Shape 15"/>
          <p:cNvSpPr/>
          <p:nvPr/>
        </p:nvSpPr>
        <p:spPr>
          <a:xfrm>
            <a:off x="525780" y="2825496"/>
            <a:ext cx="82296" cy="82296"/>
          </a:xfrm>
          <a:prstGeom prst="ellipse">
            <a:avLst/>
          </a:prstGeom>
          <a:solidFill>
            <a:srgbClr val="C8202C"/>
          </a:solidFill>
        </p:spPr>
      </p:sp>
      <p:sp>
        <p:nvSpPr>
          <p:cNvPr id="18" name="Text 16"/>
          <p:cNvSpPr/>
          <p:nvPr/>
        </p:nvSpPr>
        <p:spPr>
          <a:xfrm>
            <a:off x="758952" y="275234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排入迭代计划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9613" y="3273552"/>
            <a:ext cx="14630" cy="283464"/>
          </a:xfrm>
          <a:prstGeom prst="rect">
            <a:avLst/>
          </a:prstGeom>
          <a:solidFill>
            <a:srgbClr val="F0D2D5"/>
          </a:solidFill>
        </p:spPr>
      </p:sp>
      <p:sp>
        <p:nvSpPr>
          <p:cNvPr id="20" name="Shape 18"/>
          <p:cNvSpPr/>
          <p:nvPr/>
        </p:nvSpPr>
        <p:spPr>
          <a:xfrm>
            <a:off x="525780" y="3191256"/>
            <a:ext cx="82296" cy="82296"/>
          </a:xfrm>
          <a:prstGeom prst="ellipse">
            <a:avLst/>
          </a:prstGeom>
          <a:solidFill>
            <a:srgbClr val="C8202C"/>
          </a:solidFill>
        </p:spPr>
      </p:sp>
      <p:sp>
        <p:nvSpPr>
          <p:cNvPr id="21" name="Text 19"/>
          <p:cNvSpPr/>
          <p:nvPr/>
        </p:nvSpPr>
        <p:spPr>
          <a:xfrm>
            <a:off x="758952" y="311810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开发与运维之间往返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5780" y="3557016"/>
            <a:ext cx="82296" cy="82296"/>
          </a:xfrm>
          <a:prstGeom prst="ellipse">
            <a:avLst/>
          </a:prstGeom>
          <a:solidFill>
            <a:srgbClr val="C8202C"/>
          </a:solidFill>
        </p:spPr>
      </p:sp>
      <p:sp>
        <p:nvSpPr>
          <p:cNvPr id="23" name="Text 21"/>
          <p:cNvSpPr/>
          <p:nvPr/>
        </p:nvSpPr>
        <p:spPr>
          <a:xfrm>
            <a:off x="758952" y="348386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若干天后处理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188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我们的做法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527048"/>
            <a:ext cx="384048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6" name="Shape 24"/>
          <p:cNvSpPr/>
          <p:nvPr/>
        </p:nvSpPr>
        <p:spPr>
          <a:xfrm>
            <a:off x="4857293" y="1810512"/>
            <a:ext cx="14630" cy="283464"/>
          </a:xfrm>
          <a:prstGeom prst="rect">
            <a:avLst/>
          </a:prstGeom>
          <a:solidFill>
            <a:srgbClr val="CDDCF7"/>
          </a:solidFill>
        </p:spPr>
      </p:sp>
      <p:sp>
        <p:nvSpPr>
          <p:cNvPr id="27" name="Shape 25"/>
          <p:cNvSpPr/>
          <p:nvPr/>
        </p:nvSpPr>
        <p:spPr>
          <a:xfrm>
            <a:off x="4823460" y="1728216"/>
            <a:ext cx="82296" cy="82296"/>
          </a:xfrm>
          <a:prstGeom prst="ellipse">
            <a:avLst/>
          </a:prstGeom>
          <a:solidFill>
            <a:srgbClr val="0F5FD8"/>
          </a:solidFill>
        </p:spPr>
      </p:sp>
      <p:sp>
        <p:nvSpPr>
          <p:cNvPr id="28" name="Text 26"/>
          <p:cNvSpPr/>
          <p:nvPr/>
        </p:nvSpPr>
        <p:spPr>
          <a:xfrm>
            <a:off x="5056632" y="165506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平台发现问题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57293" y="2176272"/>
            <a:ext cx="14630" cy="283464"/>
          </a:xfrm>
          <a:prstGeom prst="rect">
            <a:avLst/>
          </a:prstGeom>
          <a:solidFill>
            <a:srgbClr val="CDDCF7"/>
          </a:solidFill>
        </p:spPr>
      </p:sp>
      <p:sp>
        <p:nvSpPr>
          <p:cNvPr id="30" name="Shape 28"/>
          <p:cNvSpPr/>
          <p:nvPr/>
        </p:nvSpPr>
        <p:spPr>
          <a:xfrm>
            <a:off x="4823460" y="2093976"/>
            <a:ext cx="82296" cy="82296"/>
          </a:xfrm>
          <a:prstGeom prst="ellipse">
            <a:avLst/>
          </a:prstGeom>
          <a:solidFill>
            <a:srgbClr val="0F5FD8"/>
          </a:solidFill>
        </p:spPr>
      </p:sp>
      <p:sp>
        <p:nvSpPr>
          <p:cNvPr id="31" name="Text 29"/>
          <p:cNvSpPr/>
          <p:nvPr/>
        </p:nvSpPr>
        <p:spPr>
          <a:xfrm>
            <a:off x="5056632" y="202082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巡检智能体定位根因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57293" y="2542032"/>
            <a:ext cx="14630" cy="283464"/>
          </a:xfrm>
          <a:prstGeom prst="rect">
            <a:avLst/>
          </a:prstGeom>
          <a:solidFill>
            <a:srgbClr val="CDDCF7"/>
          </a:solidFill>
        </p:spPr>
      </p:sp>
      <p:sp>
        <p:nvSpPr>
          <p:cNvPr id="33" name="Shape 31"/>
          <p:cNvSpPr/>
          <p:nvPr/>
        </p:nvSpPr>
        <p:spPr>
          <a:xfrm>
            <a:off x="4823460" y="2459736"/>
            <a:ext cx="82296" cy="82296"/>
          </a:xfrm>
          <a:prstGeom prst="ellipse">
            <a:avLst/>
          </a:prstGeom>
          <a:solidFill>
            <a:srgbClr val="0F5FD8"/>
          </a:solidFill>
        </p:spPr>
      </p:sp>
      <p:sp>
        <p:nvSpPr>
          <p:cNvPr id="34" name="Text 32"/>
          <p:cNvSpPr/>
          <p:nvPr/>
        </p:nvSpPr>
        <p:spPr>
          <a:xfrm>
            <a:off x="5056632" y="238658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23460" y="2825496"/>
            <a:ext cx="82296" cy="82296"/>
          </a:xfrm>
          <a:prstGeom prst="ellipse">
            <a:avLst/>
          </a:prstGeom>
          <a:solidFill>
            <a:srgbClr val="0F5FD8"/>
          </a:solidFill>
        </p:spPr>
      </p:sp>
      <p:sp>
        <p:nvSpPr>
          <p:cNvPr id="36" name="Text 34"/>
          <p:cNvSpPr/>
          <p:nvPr/>
        </p:nvSpPr>
        <p:spPr>
          <a:xfrm>
            <a:off x="5056632" y="2752344"/>
            <a:ext cx="35844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您可能从未察觉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255264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四类巡检智能体分工扫描：日志分析 · 性能诊断 · 依赖巡检 · 配置核查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并在多个信号之间做关联判断，直接指向根因。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114800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39" name="Text 37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7×24 小时监控，不分工作日与节假日；维保期内异常 24 小时内处理。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PRICING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为什么价格更低，质量反而更有保障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市场上的「便宜」有两种，长期结果完全相反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138160" cy="7315"/>
          </a:xfrm>
          <a:prstGeom prst="rect">
            <a:avLst/>
          </a:prstGeom>
          <a:solidFill>
            <a:srgbClr val="0E0E0E"/>
          </a:solidFill>
        </p:spPr>
      </p:sp>
      <p:sp>
        <p:nvSpPr>
          <p:cNvPr id="7" name="Text 5"/>
          <p:cNvSpPr/>
          <p:nvPr/>
        </p:nvSpPr>
        <p:spPr>
          <a:xfrm>
            <a:off x="502920" y="1737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削减式降价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49240" y="17373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效能式降价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8138160" cy="7315"/>
          </a:xfrm>
          <a:prstGeom prst="rect">
            <a:avLst/>
          </a:prstGeom>
          <a:solidFill>
            <a:srgbClr val="0E0E0E"/>
          </a:solidFill>
        </p:spPr>
      </p:sp>
      <p:sp>
        <p:nvSpPr>
          <p:cNvPr id="11" name="Text 9"/>
          <p:cNvSpPr/>
          <p:nvPr/>
        </p:nvSpPr>
        <p:spPr>
          <a:xfrm>
            <a:off x="502920" y="21396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省在哪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1396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砍文档、砍测试、砍看不见的地方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49240" y="213969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提升单位工时的产出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432304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15" name="Text 13"/>
          <p:cNvSpPr/>
          <p:nvPr/>
        </p:nvSpPr>
        <p:spPr>
          <a:xfrm>
            <a:off x="502920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建设成本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5420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49240" y="254203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834640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19" name="Text 17"/>
          <p:cNvSpPr/>
          <p:nvPr/>
        </p:nvSpPr>
        <p:spPr>
          <a:xfrm>
            <a:off x="502920" y="29443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持有成本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29443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大幅上升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49240" y="29443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不变或下降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236976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23" name="Text 21"/>
          <p:cNvSpPr/>
          <p:nvPr/>
        </p:nvSpPr>
        <p:spPr>
          <a:xfrm>
            <a:off x="502920" y="33467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退出成本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334670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大幅上升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49240" y="334670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3639312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27" name="Text 25"/>
          <p:cNvSpPr/>
          <p:nvPr/>
        </p:nvSpPr>
        <p:spPr>
          <a:xfrm>
            <a:off x="502920" y="37490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65960" y="3749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更贵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37490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更便宜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4041648"/>
            <a:ext cx="8138160" cy="7315"/>
          </a:xfrm>
          <a:prstGeom prst="rect">
            <a:avLst/>
          </a:prstGeom>
          <a:solidFill>
            <a:srgbClr val="E8E8E4"/>
          </a:solidFill>
        </p:spPr>
      </p:sp>
      <p:sp>
        <p:nvSpPr>
          <p:cNvPr id="31" name="Text 29"/>
          <p:cNvSpPr/>
          <p:nvPr/>
        </p:nvSpPr>
        <p:spPr>
          <a:xfrm>
            <a:off x="502920" y="4279392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我们降的是生产成本，不是交付标准。最直接的证明是——如果靠砍质量降价，「交付的代码问题终生免费修复」这条承诺会直接把我们拖垮。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HOW WE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七步流程，所有项目都走这一条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84217" y="1874520"/>
            <a:ext cx="6975566" cy="12802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6" name="Shape 4"/>
          <p:cNvSpPr/>
          <p:nvPr/>
        </p:nvSpPr>
        <p:spPr>
          <a:xfrm>
            <a:off x="1015637" y="1812341"/>
            <a:ext cx="137160" cy="137160"/>
          </a:xfrm>
          <a:prstGeom prst="ellipse">
            <a:avLst/>
          </a:prstGeom>
          <a:solidFill>
            <a:srgbClr val="0F5FD8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初步交流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414016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78231" y="1812341"/>
            <a:ext cx="137160" cy="137160"/>
          </a:xfrm>
          <a:prstGeom prst="ellipse">
            <a:avLst/>
          </a:prstGeom>
          <a:solidFill>
            <a:srgbClr val="0F5FD8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5514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5514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需求与报价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65514" y="2414016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20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免费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40826" y="1812341"/>
            <a:ext cx="137160" cy="137160"/>
          </a:xfrm>
          <a:prstGeom prst="ellipse">
            <a:avLst/>
          </a:prstGeom>
          <a:solidFill>
            <a:srgbClr val="F7F7F5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8109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28109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法律合同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03420" y="1812341"/>
            <a:ext cx="137160" cy="137160"/>
          </a:xfrm>
          <a:prstGeom prst="ellipse">
            <a:avLst/>
          </a:prstGeom>
          <a:solidFill>
            <a:srgbClr val="F7F7F5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90703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90703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持续反馈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6014" y="1812341"/>
            <a:ext cx="137160" cy="137160"/>
          </a:xfrm>
          <a:prstGeom prst="ellipse">
            <a:avLst/>
          </a:prstGeom>
          <a:solidFill>
            <a:srgbClr val="F7F7F5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3297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53297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逐项验收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28609" y="1812341"/>
            <a:ext cx="137160" cy="137160"/>
          </a:xfrm>
          <a:prstGeom prst="ellipse">
            <a:avLst/>
          </a:prstGeom>
          <a:solidFill>
            <a:srgbClr val="F7F7F5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5891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5891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上线交付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91203" y="1812341"/>
            <a:ext cx="137160" cy="137160"/>
          </a:xfrm>
          <a:prstGeom prst="ellipse">
            <a:avLst/>
          </a:prstGeom>
          <a:solidFill>
            <a:srgbClr val="0F5FD8"/>
          </a:solidFill>
          <a:ln w="15240">
            <a:solidFill>
              <a:srgbClr val="0F5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8486" y="1353312"/>
            <a:ext cx="11625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78486" y="2121408"/>
            <a:ext cx="116259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维修保障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2907792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30" name="Text 28"/>
          <p:cNvSpPr/>
          <p:nvPr/>
        </p:nvSpPr>
        <p:spPr>
          <a:xfrm>
            <a:off x="502920" y="310896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前两步完全免费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86000" y="3108960"/>
            <a:ext cx="6355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不花一分钱，先拿到一份完整的需求文档和一份明确的报价，再决定要不要合作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3493008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每周按条目汇报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493008"/>
            <a:ext cx="6355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汇报单位是需求文档的条目——「这周完成了第 12、13、17 条」，而不是「进度 60%」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387705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逐项验收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0" y="3877056"/>
            <a:ext cx="6355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验收依据是那份您逐条确认过的需求文档，让分歧变成事实核对，而不是立场之争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4315968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37" name="Text 35"/>
          <p:cNvSpPr/>
          <p:nvPr/>
        </p:nvSpPr>
        <p:spPr>
          <a:xfrm>
            <a:off x="502920" y="4480560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偏差在第一周就会显形，而不是在第十周。一周的偏差可以补，十周的偏差只能延期。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DELIVERY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看不见的地方，我们有统一基准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它是每个项目的默认配置，不是可选项，也不随报价调整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36576" cy="548640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7" name="Text 5"/>
          <p:cNvSpPr/>
          <p:nvPr/>
        </p:nvSpPr>
        <p:spPr>
          <a:xfrm>
            <a:off x="685800" y="16642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数据安全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568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密码不以任何形式明文留存；凭据由您掌握；权限按角色最小化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719072"/>
            <a:ext cx="36576" cy="548640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0" name="Text 8"/>
          <p:cNvSpPr/>
          <p:nvPr/>
        </p:nvSpPr>
        <p:spPr>
          <a:xfrm>
            <a:off x="4983480" y="16642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568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定期自动备份，且必须验证过可恢复——没验证过恢复的备份不算备份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36576" cy="548640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13" name="Text 11"/>
          <p:cNvSpPr/>
          <p:nvPr/>
        </p:nvSpPr>
        <p:spPr>
          <a:xfrm>
            <a:off x="685800" y="2578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8712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关键接口的响应目标写进需求文档并纳入验收；上线前完成压力验证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633472"/>
            <a:ext cx="36576" cy="548640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16" name="Text 14"/>
          <p:cNvSpPr/>
          <p:nvPr/>
        </p:nvSpPr>
        <p:spPr>
          <a:xfrm>
            <a:off x="4983480" y="25786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容错灾备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8712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识别并处置单点故障；事务保障；对外部依赖设超时与重试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47872"/>
            <a:ext cx="36576" cy="548640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9" name="Text 17"/>
          <p:cNvSpPr/>
          <p:nvPr/>
        </p:nvSpPr>
        <p:spPr>
          <a:xfrm>
            <a:off x="685800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可维护性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7856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检验标准只有一条：换一个团队来，能不能接手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547872"/>
            <a:ext cx="36576" cy="548640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22" name="Text 20"/>
          <p:cNvSpPr/>
          <p:nvPr/>
        </p:nvSpPr>
        <p:spPr>
          <a:xfrm>
            <a:off x="4983480" y="3493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界面贴合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785616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组织方式跟随您的业务流程，高频操作路径最短化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62272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5" name="Text 23"/>
          <p:cNvSpPr/>
          <p:nvPr/>
        </p:nvSpPr>
        <p:spPr>
          <a:xfrm>
            <a:off x="502920" y="4626864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做不到，将来免费返工的是我们自己——这条基准和我们自己的利益是一致的。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WHAT WE 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三类服务，六个维度的覆盖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36576" cy="420624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6" name="Text 4"/>
          <p:cNvSpPr/>
          <p:nvPr/>
        </p:nvSpPr>
        <p:spPr>
          <a:xfrm>
            <a:off x="685800" y="13716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软件定制服务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55064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把一件事做成一套系统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03320" y="14447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还没有系统，或现有方式已经撑不住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57984"/>
            <a:ext cx="36576" cy="420624"/>
          </a:xfrm>
          <a:prstGeom prst="rect">
            <a:avLst/>
          </a:prstGeom>
          <a:solidFill>
            <a:srgbClr val="C8202C"/>
          </a:solidFill>
        </p:spPr>
      </p:sp>
      <p:sp>
        <p:nvSpPr>
          <p:cNvPr id="10" name="Text 8"/>
          <p:cNvSpPr/>
          <p:nvPr/>
        </p:nvSpPr>
        <p:spPr>
          <a:xfrm>
            <a:off x="685800" y="21031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 AI 升级定制服务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386584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在现有业务与系统上把 AI 接进去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21762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业务已在跑，希望用 AI 提效或降本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36576" cy="420624"/>
          </a:xfrm>
          <a:prstGeom prst="rect">
            <a:avLst/>
          </a:prstGeom>
          <a:solidFill>
            <a:srgbClr val="E8B21C"/>
          </a:solidFill>
        </p:spPr>
      </p:sp>
      <p:sp>
        <p:nvSpPr>
          <p:cNvPr id="14" name="Text 12"/>
          <p:cNvSpPr/>
          <p:nvPr/>
        </p:nvSpPr>
        <p:spPr>
          <a:xfrm>
            <a:off x="685800" y="283464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企业数字化与 AI 咨询服务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118104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先把该不该做、先做什么想清楚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29077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还在决策阶段，或方向不明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602736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8" name="Text 16"/>
          <p:cNvSpPr/>
          <p:nvPr/>
        </p:nvSpPr>
        <p:spPr>
          <a:xfrm>
            <a:off x="502920" y="378561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02920" y="4261104"/>
            <a:ext cx="1627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个行业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30552" y="378561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130552" y="4261104"/>
            <a:ext cx="1627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类业务场景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58184" y="378561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758184" y="4261104"/>
            <a:ext cx="1627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类软件形态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85816" y="378561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85816" y="4261104"/>
            <a:ext cx="1627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个端与载体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13448" y="3785616"/>
            <a:ext cx="16276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013448" y="4261104"/>
            <a:ext cx="16276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 AI 能力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COMMITMENTS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写进合同的五条承诺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92440" y="4736592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645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335024"/>
            <a:ext cx="36576" cy="493776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6" name="Text 4"/>
          <p:cNvSpPr/>
          <p:nvPr/>
        </p:nvSpPr>
        <p:spPr>
          <a:xfrm>
            <a:off x="685800" y="12984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源码、数据与知识产权完整归您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86200" y="1280160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完整部署在您自己的服务器上，凭据由您持有。您可以在任何时候换掉我们，且不需要征得我们同意。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36576" cy="493776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9" name="Text 7"/>
          <p:cNvSpPr/>
          <p:nvPr/>
        </p:nvSpPr>
        <p:spPr>
          <a:xfrm>
            <a:off x="685800" y="19202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前两步完全免费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86200" y="1901952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初步交流与需求梳理报价全程免费，不满意可持续优化，直到满意为止。不合作，需求文档也归您。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36576" cy="493776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2" name="Text 10"/>
          <p:cNvSpPr/>
          <p:nvPr/>
        </p:nvSpPr>
        <p:spPr>
          <a:xfrm>
            <a:off x="685800" y="254203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不搞黑盒开发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86200" y="2523744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专属沟通渠道；每周按需求条目汇报；交付前逐项验收，任何一项不满意就调整。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36576" cy="493776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15" name="Text 13"/>
          <p:cNvSpPr/>
          <p:nvPr/>
        </p:nvSpPr>
        <p:spPr>
          <a:xfrm>
            <a:off x="685800" y="31638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0E0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一年免费维保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86200" y="3145536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自交付日起免费维保一年，7×24 小时监控，异常 24 小时内处理，不分工作日与节假日。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22192"/>
            <a:ext cx="36576" cy="493776"/>
          </a:xfrm>
          <a:prstGeom prst="rect">
            <a:avLst/>
          </a:prstGeom>
          <a:solidFill>
            <a:srgbClr val="0F5FD8"/>
          </a:solidFill>
        </p:spPr>
      </p:sp>
      <p:sp>
        <p:nvSpPr>
          <p:cNvPr id="18" name="Text 16"/>
          <p:cNvSpPr/>
          <p:nvPr/>
        </p:nvSpPr>
        <p:spPr>
          <a:xfrm>
            <a:off x="685800" y="378561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5F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交付的代码问题，终生免费修复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86200" y="3767328"/>
            <a:ext cx="4754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443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无论是否还在服务期。性能不达标、备份恢复不了、容灾没做到位，都算交付的代码问题。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25696"/>
            <a:ext cx="8138160" cy="7315"/>
          </a:xfrm>
          <a:prstGeom prst="rect">
            <a:avLst/>
          </a:prstGeom>
          <a:solidFill>
            <a:srgbClr val="DCDCD8"/>
          </a:solidFill>
        </p:spPr>
      </p:sp>
      <p:sp>
        <p:nvSpPr>
          <p:cNvPr id="21" name="Text 19"/>
          <p:cNvSpPr/>
          <p:nvPr/>
        </p:nvSpPr>
        <p:spPr>
          <a:xfrm>
            <a:off x="502920" y="4590288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3495</Words>
  <Application>WPS 演示</Application>
  <PresentationFormat>On-screen Show (16:9)</PresentationFormat>
  <Paragraphs>573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软件定制服务白皮书</dc:title>
  <dc:creator>PptxGenJS</dc:creator>
  <dc:subject>PptxGenJS Presentation</dc:subject>
  <cp:lastModifiedBy>~~</cp:lastModifiedBy>
  <cp:revision>2</cp:revision>
  <dcterms:created xsi:type="dcterms:W3CDTF">2026-08-22T14:35:00Z</dcterms:created>
  <dcterms:modified xsi:type="dcterms:W3CDTF">2026-08-22T14:41:52Z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BFE8DEB0405E4C75A6D8EBAC0DCCCA2C_12</vt:lpwstr>
  </property>
</Properties>
</file>